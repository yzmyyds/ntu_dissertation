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40"/>
    <p:restoredTop sz="94709"/>
  </p:normalViewPr>
  <p:slideViewPr>
    <p:cSldViewPr snapToGrid="0">
      <p:cViewPr>
        <p:scale>
          <a:sx n="40" d="100"/>
          <a:sy n="40" d="100"/>
        </p:scale>
        <p:origin x="696" y="1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6BAF-A046-6283-61A3-AC9542C83D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15B5E328-8350-88E1-843F-4074AC1903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A06611D8-C7A8-1512-3A10-CDFD3FB3067C}"/>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5" name="Footer Placeholder 4">
            <a:extLst>
              <a:ext uri="{FF2B5EF4-FFF2-40B4-BE49-F238E27FC236}">
                <a16:creationId xmlns:a16="http://schemas.microsoft.com/office/drawing/2014/main" id="{4B80BDCD-D8B8-20BA-7EEE-94EA512E087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658D23E8-55D8-BFEA-802F-FB74ED13159C}"/>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2576411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D1345-6C43-EEF9-B76F-04BA5A276298}"/>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B5600E9D-1086-7E18-F8FB-9F9464EAE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3E403A0-52F7-9BF1-A2F8-AE9595D45266}"/>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5" name="Footer Placeholder 4">
            <a:extLst>
              <a:ext uri="{FF2B5EF4-FFF2-40B4-BE49-F238E27FC236}">
                <a16:creationId xmlns:a16="http://schemas.microsoft.com/office/drawing/2014/main" id="{5126583C-BA23-D9FD-877B-288CE5F49491}"/>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1F331D09-D2FC-CBE7-431A-CC043AC695CE}"/>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1436785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CACB-A72E-2C3B-8634-208127AF19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C9730457-CA0E-495E-22C6-2A7CC85362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23E31C-53EE-E16F-69A8-7AB1D4E43AD4}"/>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5" name="Footer Placeholder 4">
            <a:extLst>
              <a:ext uri="{FF2B5EF4-FFF2-40B4-BE49-F238E27FC236}">
                <a16:creationId xmlns:a16="http://schemas.microsoft.com/office/drawing/2014/main" id="{1656AAE9-0196-5A4A-6AD4-E8C325CD8E8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10B288BA-C4B2-4B21-15A7-A663DFDB1854}"/>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209843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B51F-14A1-CBD1-EED7-A8A16E68EF8F}"/>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3085117A-ADD4-5F54-0121-8E5046DE0E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A0F22AED-87C8-D3D8-4C81-5BB40EF2D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4AEC80D0-04BD-30B4-CD18-F58C73E2ECCA}"/>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6" name="Footer Placeholder 5">
            <a:extLst>
              <a:ext uri="{FF2B5EF4-FFF2-40B4-BE49-F238E27FC236}">
                <a16:creationId xmlns:a16="http://schemas.microsoft.com/office/drawing/2014/main" id="{2647AD9E-DD74-DE34-0AC7-17CCF73B41E0}"/>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A8020900-E343-CFA2-7529-8C5AA61FAE5A}"/>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50172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4909F-740C-4AF5-5C5C-A3B96B54D5CB}"/>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46EEB491-CAF2-E50E-3D22-62886FDEE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EB6E4A-54DC-910C-1923-AF56F3913B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548B6FB5-35A0-2E7E-5EB2-362C561174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F84073-421E-2770-9A7C-FC761DBC09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BDA6519A-CA1C-9C04-6309-801C4E28FEE0}"/>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8" name="Footer Placeholder 7">
            <a:extLst>
              <a:ext uri="{FF2B5EF4-FFF2-40B4-BE49-F238E27FC236}">
                <a16:creationId xmlns:a16="http://schemas.microsoft.com/office/drawing/2014/main" id="{D6F2AAD3-0802-1CD0-E856-CDC7D284E36D}"/>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ABC1E369-6E8B-71CE-3C94-F72DC8D79712}"/>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368353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F70BA-F5F7-376C-FACD-8D8CE8F8DA1E}"/>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34F0A80B-C87C-5B30-7E4D-CF1260C7DECB}"/>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4" name="Footer Placeholder 3">
            <a:extLst>
              <a:ext uri="{FF2B5EF4-FFF2-40B4-BE49-F238E27FC236}">
                <a16:creationId xmlns:a16="http://schemas.microsoft.com/office/drawing/2014/main" id="{D9D9E49F-D865-51AD-042A-918F2655B805}"/>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5E870CA6-CC6F-0205-9534-FD292C6E2B1A}"/>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3109449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EE74DA-63E6-291F-6B0B-A2149025F274}"/>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3" name="Footer Placeholder 2">
            <a:extLst>
              <a:ext uri="{FF2B5EF4-FFF2-40B4-BE49-F238E27FC236}">
                <a16:creationId xmlns:a16="http://schemas.microsoft.com/office/drawing/2014/main" id="{C0371CBF-B58D-E069-D8BF-2A8C4B5D2DAA}"/>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E919A0F8-3971-DCC1-5925-58B6B0D9FAFE}"/>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2110381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8384-A432-20A0-CCFB-C10043CA3D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88BA1C50-DBE6-F664-4849-2D1DB8709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A35B45C2-C6EB-7A4E-D981-F8E0EA082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F3B1F-4A41-8D2F-7C6C-54A120D58B05}"/>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6" name="Footer Placeholder 5">
            <a:extLst>
              <a:ext uri="{FF2B5EF4-FFF2-40B4-BE49-F238E27FC236}">
                <a16:creationId xmlns:a16="http://schemas.microsoft.com/office/drawing/2014/main" id="{F951FF7E-4A30-B111-CC6A-FCE6187AF02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2DA76CC6-CFA7-1FDD-9BA3-DA99708310DC}"/>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15953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CAEB-4EB1-A0F1-B4C4-E62D3D8F3C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B7C2C546-9F48-05B7-7A9C-519AABE2AE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3A64D0D5-41EC-0504-4F9C-A666EED9E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A3D6F-56C0-A8EE-6787-E2820C392D19}"/>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6" name="Footer Placeholder 5">
            <a:extLst>
              <a:ext uri="{FF2B5EF4-FFF2-40B4-BE49-F238E27FC236}">
                <a16:creationId xmlns:a16="http://schemas.microsoft.com/office/drawing/2014/main" id="{D742E7D3-4C87-FB34-9F90-75698FF7DDE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4F3D88F-3225-4634-B383-B545CE19AE59}"/>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267959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C261E-BD49-61D3-B572-715C4450C6A7}"/>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307C13-A407-7244-833D-E694F42840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478518E-5EA0-63A0-3CE9-F22019D8EF29}"/>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5" name="Footer Placeholder 4">
            <a:extLst>
              <a:ext uri="{FF2B5EF4-FFF2-40B4-BE49-F238E27FC236}">
                <a16:creationId xmlns:a16="http://schemas.microsoft.com/office/drawing/2014/main" id="{A305B0C2-324A-FAC1-7A85-8B484D097A3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6C31C67A-4581-CDA9-78DB-CCF84E882736}"/>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3715174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EB3F02-3457-822E-014D-7B212AA02A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C7966D31-1632-CC09-9EBD-EC4BCA335D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2B201D66-0A0A-BED2-A9FC-8DFDF2499D54}"/>
              </a:ext>
            </a:extLst>
          </p:cNvPr>
          <p:cNvSpPr>
            <a:spLocks noGrp="1"/>
          </p:cNvSpPr>
          <p:nvPr>
            <p:ph type="dt" sz="half" idx="10"/>
          </p:nvPr>
        </p:nvSpPr>
        <p:spPr/>
        <p:txBody>
          <a:bodyPr/>
          <a:lstStyle/>
          <a:p>
            <a:fld id="{A47FDB37-3E53-D44D-A232-36179525B37D}" type="datetimeFigureOut">
              <a:rPr lang="en-CN" smtClean="0"/>
              <a:t>2026/2/26</a:t>
            </a:fld>
            <a:endParaRPr lang="en-CN"/>
          </a:p>
        </p:txBody>
      </p:sp>
      <p:sp>
        <p:nvSpPr>
          <p:cNvPr id="5" name="Footer Placeholder 4">
            <a:extLst>
              <a:ext uri="{FF2B5EF4-FFF2-40B4-BE49-F238E27FC236}">
                <a16:creationId xmlns:a16="http://schemas.microsoft.com/office/drawing/2014/main" id="{BBA67EFE-2788-BF0C-6B26-22B16D4DBE6B}"/>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45866D54-DE9F-6653-F415-5B6CAE353D92}"/>
              </a:ext>
            </a:extLst>
          </p:cNvPr>
          <p:cNvSpPr>
            <a:spLocks noGrp="1"/>
          </p:cNvSpPr>
          <p:nvPr>
            <p:ph type="sldNum" sz="quarter" idx="12"/>
          </p:nvPr>
        </p:nvSpPr>
        <p:spPr/>
        <p:txBody>
          <a:bodyPr/>
          <a:lstStyle/>
          <a:p>
            <a:fld id="{9B2B7FA8-1EE8-5B4B-8A17-581462C53922}" type="slidenum">
              <a:rPr lang="en-CN" smtClean="0"/>
              <a:t>‹#›</a:t>
            </a:fld>
            <a:endParaRPr lang="en-CN"/>
          </a:p>
        </p:txBody>
      </p:sp>
    </p:spTree>
    <p:extLst>
      <p:ext uri="{BB962C8B-B14F-4D97-AF65-F5344CB8AC3E}">
        <p14:creationId xmlns:p14="http://schemas.microsoft.com/office/powerpoint/2010/main" val="1170713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9EE0A1-772E-C341-89A6-C88EAEABEC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AB490C80-D5F1-023B-C1A1-4A5DE6DF6E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0536C89-9448-FA8A-578F-07D65922F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7FDB37-3E53-D44D-A232-36179525B37D}" type="datetimeFigureOut">
              <a:rPr lang="en-CN" smtClean="0"/>
              <a:t>2026/2/26</a:t>
            </a:fld>
            <a:endParaRPr lang="en-CN"/>
          </a:p>
        </p:txBody>
      </p:sp>
      <p:sp>
        <p:nvSpPr>
          <p:cNvPr id="5" name="Footer Placeholder 4">
            <a:extLst>
              <a:ext uri="{FF2B5EF4-FFF2-40B4-BE49-F238E27FC236}">
                <a16:creationId xmlns:a16="http://schemas.microsoft.com/office/drawing/2014/main" id="{E368F70C-2A2D-5D08-700E-8D4FF33851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044F9CD6-797A-7810-385B-EB54429CEF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2B7FA8-1EE8-5B4B-8A17-581462C53922}" type="slidenum">
              <a:rPr lang="en-CN" smtClean="0"/>
              <a:t>‹#›</a:t>
            </a:fld>
            <a:endParaRPr lang="en-CN"/>
          </a:p>
        </p:txBody>
      </p:sp>
    </p:spTree>
    <p:extLst>
      <p:ext uri="{BB962C8B-B14F-4D97-AF65-F5344CB8AC3E}">
        <p14:creationId xmlns:p14="http://schemas.microsoft.com/office/powerpoint/2010/main" val="1682084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jwagen/dsr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nakamotoo/dsrl_pi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FA831-D8E1-4990-D6B5-07EBB62B33D0}"/>
              </a:ext>
            </a:extLst>
          </p:cNvPr>
          <p:cNvSpPr>
            <a:spLocks noGrp="1"/>
          </p:cNvSpPr>
          <p:nvPr>
            <p:ph type="ctrTitle"/>
          </p:nvPr>
        </p:nvSpPr>
        <p:spPr>
          <a:xfrm>
            <a:off x="1524000" y="1578762"/>
            <a:ext cx="9144000" cy="2387600"/>
          </a:xfrm>
        </p:spPr>
        <p:txBody>
          <a:bodyPr>
            <a:normAutofit fontScale="90000"/>
          </a:bodyPr>
          <a:lstStyle/>
          <a:p>
            <a:pPr algn="l"/>
            <a:r>
              <a:rPr lang="en-CN" dirty="0"/>
              <a:t>VLA-R3L :</a:t>
            </a:r>
            <a:br>
              <a:rPr lang="en-CN" sz="4000" dirty="0"/>
            </a:br>
            <a:r>
              <a:rPr lang="en-CN" sz="4000" dirty="0"/>
              <a:t>achieving performant robotic generalist policy in real world via reflective residual reinforcement learning </a:t>
            </a:r>
            <a:endParaRPr lang="en-CN" dirty="0"/>
          </a:p>
        </p:txBody>
      </p:sp>
      <p:sp>
        <p:nvSpPr>
          <p:cNvPr id="3" name="Subtitle 2">
            <a:extLst>
              <a:ext uri="{FF2B5EF4-FFF2-40B4-BE49-F238E27FC236}">
                <a16:creationId xmlns:a16="http://schemas.microsoft.com/office/drawing/2014/main" id="{01A5E662-DF9C-1DA2-2C2B-E14EFD4FD51F}"/>
              </a:ext>
            </a:extLst>
          </p:cNvPr>
          <p:cNvSpPr>
            <a:spLocks noGrp="1"/>
          </p:cNvSpPr>
          <p:nvPr>
            <p:ph type="subTitle" idx="1"/>
          </p:nvPr>
        </p:nvSpPr>
        <p:spPr>
          <a:xfrm>
            <a:off x="1524000" y="4085438"/>
            <a:ext cx="9144000" cy="1655762"/>
          </a:xfrm>
        </p:spPr>
        <p:txBody>
          <a:bodyPr/>
          <a:lstStyle/>
          <a:p>
            <a:pPr algn="r"/>
            <a:r>
              <a:rPr lang="en-CN" dirty="0"/>
              <a:t>Yan Ziming </a:t>
            </a:r>
          </a:p>
          <a:p>
            <a:pPr algn="r"/>
            <a:r>
              <a:rPr lang="en-CN" dirty="0"/>
              <a:t>2026/02/27</a:t>
            </a:r>
          </a:p>
        </p:txBody>
      </p:sp>
    </p:spTree>
    <p:extLst>
      <p:ext uri="{BB962C8B-B14F-4D97-AF65-F5344CB8AC3E}">
        <p14:creationId xmlns:p14="http://schemas.microsoft.com/office/powerpoint/2010/main" val="1077152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1E533-C58F-098C-C8F4-171A82F0D517}"/>
              </a:ext>
            </a:extLst>
          </p:cNvPr>
          <p:cNvSpPr>
            <a:spLocks noGrp="1"/>
          </p:cNvSpPr>
          <p:nvPr>
            <p:ph type="title"/>
          </p:nvPr>
        </p:nvSpPr>
        <p:spPr/>
        <p:txBody>
          <a:bodyPr/>
          <a:lstStyle/>
          <a:p>
            <a:r>
              <a:rPr lang="en-CN" dirty="0"/>
              <a:t>DSRL Reproduce I:</a:t>
            </a:r>
          </a:p>
        </p:txBody>
      </p:sp>
      <p:sp>
        <p:nvSpPr>
          <p:cNvPr id="3" name="Content Placeholder 2">
            <a:extLst>
              <a:ext uri="{FF2B5EF4-FFF2-40B4-BE49-F238E27FC236}">
                <a16:creationId xmlns:a16="http://schemas.microsoft.com/office/drawing/2014/main" id="{611EE177-16BC-F977-B57F-15086EB385FD}"/>
              </a:ext>
            </a:extLst>
          </p:cNvPr>
          <p:cNvSpPr>
            <a:spLocks noGrp="1"/>
          </p:cNvSpPr>
          <p:nvPr>
            <p:ph idx="1"/>
          </p:nvPr>
        </p:nvSpPr>
        <p:spPr/>
        <p:txBody>
          <a:bodyPr/>
          <a:lstStyle/>
          <a:p>
            <a:pPr marL="0" indent="0">
              <a:buNone/>
            </a:pPr>
            <a:r>
              <a:rPr lang="en-CN" dirty="0"/>
              <a:t>Overview:</a:t>
            </a:r>
          </a:p>
          <a:p>
            <a:pPr marL="0" indent="0">
              <a:buNone/>
            </a:pPr>
            <a:r>
              <a:rPr lang="en-CN" dirty="0"/>
              <a:t>Evaluate the performance of dsrl with different tasks in simulation. (ref:</a:t>
            </a:r>
            <a:r>
              <a:rPr lang="en-US" dirty="0"/>
              <a:t> </a:t>
            </a:r>
            <a:r>
              <a:rPr lang="en-US" dirty="0">
                <a:hlinkClick r:id="rId2"/>
              </a:rPr>
              <a:t>https://github.com/ajwagen/dsrl</a:t>
            </a:r>
            <a:r>
              <a:rPr lang="en-US" dirty="0"/>
              <a:t>)</a:t>
            </a:r>
          </a:p>
          <a:p>
            <a:pPr marL="0" indent="0">
              <a:buNone/>
            </a:pPr>
            <a:r>
              <a:rPr lang="en-US" dirty="0"/>
              <a:t>Workflow:</a:t>
            </a:r>
          </a:p>
          <a:p>
            <a:pPr marL="0" indent="0">
              <a:buNone/>
            </a:pPr>
            <a:r>
              <a:rPr lang="en-CN" dirty="0"/>
              <a:t>Environment Setup: Intergrating robomimic with dppo</a:t>
            </a:r>
          </a:p>
          <a:p>
            <a:pPr marL="0" indent="0">
              <a:buNone/>
            </a:pPr>
            <a:r>
              <a:rPr lang="en-CN" dirty="0"/>
              <a:t>Load Pretrained Model: Loading the official checkpoints (Lift, Can, Square) to initialize action trunck.</a:t>
            </a:r>
          </a:p>
          <a:p>
            <a:pPr marL="0" indent="0">
              <a:buNone/>
            </a:pPr>
            <a:r>
              <a:rPr lang="en-CN" dirty="0"/>
              <a:t>Training: </a:t>
            </a:r>
            <a:r>
              <a:rPr lang="en-US" dirty="0"/>
              <a:t>Executing DSRL-based Reinforcement Learning to optimize the pre-trained policy</a:t>
            </a:r>
            <a:endParaRPr lang="en-CN" dirty="0"/>
          </a:p>
          <a:p>
            <a:pPr marL="0" indent="0">
              <a:buNone/>
            </a:pPr>
            <a:endParaRPr lang="en-CN" dirty="0"/>
          </a:p>
        </p:txBody>
      </p:sp>
    </p:spTree>
    <p:extLst>
      <p:ext uri="{BB962C8B-B14F-4D97-AF65-F5344CB8AC3E}">
        <p14:creationId xmlns:p14="http://schemas.microsoft.com/office/powerpoint/2010/main" val="3110614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578491-6B3C-5AEA-6411-A006B8C906E1}"/>
              </a:ext>
            </a:extLst>
          </p:cNvPr>
          <p:cNvSpPr>
            <a:spLocks noGrp="1"/>
          </p:cNvSpPr>
          <p:nvPr>
            <p:ph idx="1"/>
          </p:nvPr>
        </p:nvSpPr>
        <p:spPr>
          <a:xfrm>
            <a:off x="838200" y="822960"/>
            <a:ext cx="10515600" cy="5354003"/>
          </a:xfrm>
        </p:spPr>
        <p:txBody>
          <a:bodyPr>
            <a:normAutofit lnSpcReduction="10000"/>
          </a:bodyPr>
          <a:lstStyle/>
          <a:p>
            <a:pPr marL="0" indent="0">
              <a:buNone/>
            </a:pPr>
            <a:r>
              <a:rPr lang="en-CN" dirty="0"/>
              <a:t>Obstacles:</a:t>
            </a:r>
          </a:p>
          <a:p>
            <a:pPr marL="514350" indent="-514350">
              <a:buAutoNum type="arabicPeriod"/>
            </a:pPr>
            <a:r>
              <a:rPr lang="en-US" dirty="0" err="1"/>
              <a:t>MuJoCo</a:t>
            </a:r>
            <a:r>
              <a:rPr lang="en-US" dirty="0"/>
              <a:t> &amp; Dependency Conflicts</a:t>
            </a:r>
          </a:p>
          <a:p>
            <a:pPr marL="0" indent="0">
              <a:buNone/>
            </a:pPr>
            <a:r>
              <a:rPr lang="en-CN" dirty="0"/>
              <a:t>Legacy mujoco-py requirements in the DSRL source code conflicted with modern environments. Automated installation triggered recursive build errors.</a:t>
            </a:r>
          </a:p>
          <a:p>
            <a:pPr marL="0" indent="0">
              <a:buNone/>
            </a:pPr>
            <a:r>
              <a:rPr lang="en-CN" dirty="0"/>
              <a:t>Solution: Decoupled MuJoCo installation.</a:t>
            </a:r>
          </a:p>
          <a:p>
            <a:pPr marL="0" indent="0">
              <a:buNone/>
            </a:pPr>
            <a:endParaRPr lang="en-CN" dirty="0"/>
          </a:p>
          <a:p>
            <a:pPr marL="0" indent="0">
              <a:buNone/>
            </a:pPr>
            <a:r>
              <a:rPr lang="en-CN" dirty="0"/>
              <a:t>2.</a:t>
            </a:r>
            <a:r>
              <a:rPr lang="en-US" dirty="0"/>
              <a:t> The "Square Task" Performance Paradox</a:t>
            </a:r>
          </a:p>
          <a:p>
            <a:pPr marL="0" indent="0">
              <a:buNone/>
            </a:pPr>
            <a:r>
              <a:rPr lang="en-US" dirty="0"/>
              <a:t>Since the pretrained checkpoint loading, the training time for model converging should be much shorter than training diffusion model. However, during the first 800,000 steps, the Success Rate for square task remained near 0 (&lt;0.1)</a:t>
            </a:r>
            <a:endParaRPr lang="en-CN" dirty="0"/>
          </a:p>
        </p:txBody>
      </p:sp>
    </p:spTree>
    <p:extLst>
      <p:ext uri="{BB962C8B-B14F-4D97-AF65-F5344CB8AC3E}">
        <p14:creationId xmlns:p14="http://schemas.microsoft.com/office/powerpoint/2010/main" val="626699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BF98F-2EE5-6D45-CF28-2D20D8ADC480}"/>
              </a:ext>
            </a:extLst>
          </p:cNvPr>
          <p:cNvSpPr>
            <a:spLocks noGrp="1"/>
          </p:cNvSpPr>
          <p:nvPr>
            <p:ph type="title"/>
          </p:nvPr>
        </p:nvSpPr>
        <p:spPr>
          <a:xfrm>
            <a:off x="838200" y="365125"/>
            <a:ext cx="10515600" cy="823595"/>
          </a:xfrm>
        </p:spPr>
        <p:txBody>
          <a:bodyPr/>
          <a:lstStyle/>
          <a:p>
            <a:r>
              <a:rPr lang="en-CN" dirty="0"/>
              <a:t>Cont’d</a:t>
            </a:r>
          </a:p>
        </p:txBody>
      </p:sp>
      <p:pic>
        <p:nvPicPr>
          <p:cNvPr id="5" name="Content Placeholder 4" descr="A graph on a white surface&#10;&#10;AI-generated content may be incorrect.">
            <a:extLst>
              <a:ext uri="{FF2B5EF4-FFF2-40B4-BE49-F238E27FC236}">
                <a16:creationId xmlns:a16="http://schemas.microsoft.com/office/drawing/2014/main" id="{8313D3E5-E102-1A3E-2B08-8E537D2D40D0}"/>
              </a:ext>
            </a:extLst>
          </p:cNvPr>
          <p:cNvPicPr>
            <a:picLocks noGrp="1" noChangeAspect="1"/>
          </p:cNvPicPr>
          <p:nvPr>
            <p:ph idx="1"/>
          </p:nvPr>
        </p:nvPicPr>
        <p:blipFill>
          <a:blip r:embed="rId2"/>
          <a:stretch>
            <a:fillRect/>
          </a:stretch>
        </p:blipFill>
        <p:spPr>
          <a:xfrm>
            <a:off x="838200" y="1188720"/>
            <a:ext cx="7772400" cy="1944496"/>
          </a:xfrm>
          <a:prstGeom prst="rect">
            <a:avLst/>
          </a:prstGeom>
        </p:spPr>
      </p:pic>
      <p:sp>
        <p:nvSpPr>
          <p:cNvPr id="8" name="TextBox 7">
            <a:extLst>
              <a:ext uri="{FF2B5EF4-FFF2-40B4-BE49-F238E27FC236}">
                <a16:creationId xmlns:a16="http://schemas.microsoft.com/office/drawing/2014/main" id="{023633F0-C506-F808-3A90-B2A29473AA36}"/>
              </a:ext>
            </a:extLst>
          </p:cNvPr>
          <p:cNvSpPr txBox="1"/>
          <p:nvPr/>
        </p:nvSpPr>
        <p:spPr>
          <a:xfrm>
            <a:off x="838200" y="3429000"/>
            <a:ext cx="10515600" cy="646331"/>
          </a:xfrm>
          <a:prstGeom prst="rect">
            <a:avLst/>
          </a:prstGeom>
          <a:noFill/>
        </p:spPr>
        <p:txBody>
          <a:bodyPr wrap="square" rtlCol="0">
            <a:spAutoFit/>
          </a:bodyPr>
          <a:lstStyle/>
          <a:p>
            <a:r>
              <a:rPr lang="en-CN" dirty="0"/>
              <a:t>Solution: Increase max_steps from 300 to 1600. The success rate surged to about 0.9, </a:t>
            </a:r>
            <a:r>
              <a:rPr lang="en-US" dirty="0"/>
              <a:t>proving the model's underlying policy was correct but prematurely truncated.</a:t>
            </a:r>
            <a:endParaRPr lang="en-CN" dirty="0"/>
          </a:p>
        </p:txBody>
      </p:sp>
      <p:pic>
        <p:nvPicPr>
          <p:cNvPr id="10" name="Picture 9" descr="A graph on a white background&#10;&#10;AI-generated content may be incorrect.">
            <a:extLst>
              <a:ext uri="{FF2B5EF4-FFF2-40B4-BE49-F238E27FC236}">
                <a16:creationId xmlns:a16="http://schemas.microsoft.com/office/drawing/2014/main" id="{BA0E0AAC-12A9-A717-5F61-8CAC4352D5E9}"/>
              </a:ext>
            </a:extLst>
          </p:cNvPr>
          <p:cNvPicPr>
            <a:picLocks noChangeAspect="1"/>
          </p:cNvPicPr>
          <p:nvPr/>
        </p:nvPicPr>
        <p:blipFill>
          <a:blip r:embed="rId3"/>
          <a:stretch>
            <a:fillRect/>
          </a:stretch>
        </p:blipFill>
        <p:spPr>
          <a:xfrm>
            <a:off x="838200" y="4566125"/>
            <a:ext cx="7756913" cy="1746000"/>
          </a:xfrm>
          <a:prstGeom prst="rect">
            <a:avLst/>
          </a:prstGeom>
        </p:spPr>
      </p:pic>
    </p:spTree>
    <p:extLst>
      <p:ext uri="{BB962C8B-B14F-4D97-AF65-F5344CB8AC3E}">
        <p14:creationId xmlns:p14="http://schemas.microsoft.com/office/powerpoint/2010/main" val="354307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n a white background&#10;&#10;AI-generated content may be incorrect.">
            <a:extLst>
              <a:ext uri="{FF2B5EF4-FFF2-40B4-BE49-F238E27FC236}">
                <a16:creationId xmlns:a16="http://schemas.microsoft.com/office/drawing/2014/main" id="{BA73FC99-DFAB-B96B-51FB-7F18694E23BA}"/>
              </a:ext>
            </a:extLst>
          </p:cNvPr>
          <p:cNvPicPr>
            <a:picLocks noGrp="1" noChangeAspect="1"/>
          </p:cNvPicPr>
          <p:nvPr>
            <p:ph idx="1"/>
          </p:nvPr>
        </p:nvPicPr>
        <p:blipFill>
          <a:blip r:embed="rId2"/>
          <a:stretch>
            <a:fillRect/>
          </a:stretch>
        </p:blipFill>
        <p:spPr>
          <a:xfrm>
            <a:off x="838200" y="4114800"/>
            <a:ext cx="10515600" cy="2260616"/>
          </a:xfrm>
          <a:prstGeom prst="rect">
            <a:avLst/>
          </a:prstGeom>
        </p:spPr>
      </p:pic>
      <p:pic>
        <p:nvPicPr>
          <p:cNvPr id="7" name="Picture 6" descr="A graph with a line&#10;&#10;AI-generated content may be incorrect.">
            <a:extLst>
              <a:ext uri="{FF2B5EF4-FFF2-40B4-BE49-F238E27FC236}">
                <a16:creationId xmlns:a16="http://schemas.microsoft.com/office/drawing/2014/main" id="{E467466B-CAD7-8DA1-B030-2204FFECC6DE}"/>
              </a:ext>
            </a:extLst>
          </p:cNvPr>
          <p:cNvPicPr>
            <a:picLocks noChangeAspect="1"/>
          </p:cNvPicPr>
          <p:nvPr/>
        </p:nvPicPr>
        <p:blipFill>
          <a:blip r:embed="rId3"/>
          <a:stretch>
            <a:fillRect/>
          </a:stretch>
        </p:blipFill>
        <p:spPr>
          <a:xfrm>
            <a:off x="838200" y="1199810"/>
            <a:ext cx="8077200" cy="2229190"/>
          </a:xfrm>
          <a:prstGeom prst="rect">
            <a:avLst/>
          </a:prstGeom>
        </p:spPr>
      </p:pic>
      <p:sp>
        <p:nvSpPr>
          <p:cNvPr id="9" name="TextBox 8">
            <a:extLst>
              <a:ext uri="{FF2B5EF4-FFF2-40B4-BE49-F238E27FC236}">
                <a16:creationId xmlns:a16="http://schemas.microsoft.com/office/drawing/2014/main" id="{EC11DDF9-3786-8179-E7BD-FE6868A52217}"/>
              </a:ext>
            </a:extLst>
          </p:cNvPr>
          <p:cNvSpPr txBox="1"/>
          <p:nvPr/>
        </p:nvSpPr>
        <p:spPr>
          <a:xfrm>
            <a:off x="838200" y="830478"/>
            <a:ext cx="2383858" cy="369332"/>
          </a:xfrm>
          <a:prstGeom prst="rect">
            <a:avLst/>
          </a:prstGeom>
          <a:noFill/>
        </p:spPr>
        <p:txBody>
          <a:bodyPr wrap="none" rtlCol="0">
            <a:spAutoFit/>
          </a:bodyPr>
          <a:lstStyle/>
          <a:p>
            <a:r>
              <a:rPr lang="en-CN" dirty="0"/>
              <a:t>Lift Task Performance:</a:t>
            </a:r>
          </a:p>
        </p:txBody>
      </p:sp>
      <p:sp>
        <p:nvSpPr>
          <p:cNvPr id="10" name="TextBox 9">
            <a:extLst>
              <a:ext uri="{FF2B5EF4-FFF2-40B4-BE49-F238E27FC236}">
                <a16:creationId xmlns:a16="http://schemas.microsoft.com/office/drawing/2014/main" id="{B7B73692-4947-0C32-B6AD-17C9770568E7}"/>
              </a:ext>
            </a:extLst>
          </p:cNvPr>
          <p:cNvSpPr txBox="1"/>
          <p:nvPr/>
        </p:nvSpPr>
        <p:spPr>
          <a:xfrm>
            <a:off x="838200" y="3587234"/>
            <a:ext cx="2478692" cy="369332"/>
          </a:xfrm>
          <a:prstGeom prst="rect">
            <a:avLst/>
          </a:prstGeom>
          <a:noFill/>
        </p:spPr>
        <p:txBody>
          <a:bodyPr wrap="none" rtlCol="0">
            <a:spAutoFit/>
          </a:bodyPr>
          <a:lstStyle/>
          <a:p>
            <a:r>
              <a:rPr lang="en-CN" dirty="0"/>
              <a:t>Can Task Performance:</a:t>
            </a:r>
          </a:p>
        </p:txBody>
      </p:sp>
    </p:spTree>
    <p:extLst>
      <p:ext uri="{BB962C8B-B14F-4D97-AF65-F5344CB8AC3E}">
        <p14:creationId xmlns:p14="http://schemas.microsoft.com/office/powerpoint/2010/main" val="978174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AA63-DAF7-6736-D611-FEF89006EF47}"/>
              </a:ext>
            </a:extLst>
          </p:cNvPr>
          <p:cNvSpPr>
            <a:spLocks noGrp="1"/>
          </p:cNvSpPr>
          <p:nvPr>
            <p:ph type="title"/>
          </p:nvPr>
        </p:nvSpPr>
        <p:spPr/>
        <p:txBody>
          <a:bodyPr/>
          <a:lstStyle/>
          <a:p>
            <a:r>
              <a:rPr lang="en-CN" dirty="0"/>
              <a:t>DSRL Reproduce II:</a:t>
            </a:r>
          </a:p>
        </p:txBody>
      </p:sp>
      <p:sp>
        <p:nvSpPr>
          <p:cNvPr id="3" name="Content Placeholder 2">
            <a:extLst>
              <a:ext uri="{FF2B5EF4-FFF2-40B4-BE49-F238E27FC236}">
                <a16:creationId xmlns:a16="http://schemas.microsoft.com/office/drawing/2014/main" id="{19C684E1-CA7B-1DCD-D40B-D69A5BB1C0A6}"/>
              </a:ext>
            </a:extLst>
          </p:cNvPr>
          <p:cNvSpPr>
            <a:spLocks noGrp="1"/>
          </p:cNvSpPr>
          <p:nvPr>
            <p:ph idx="1"/>
          </p:nvPr>
        </p:nvSpPr>
        <p:spPr/>
        <p:txBody>
          <a:bodyPr/>
          <a:lstStyle/>
          <a:p>
            <a:pPr marL="0" indent="0">
              <a:buNone/>
            </a:pPr>
            <a:r>
              <a:rPr lang="en-CN" dirty="0"/>
              <a:t>Overview:</a:t>
            </a:r>
          </a:p>
          <a:p>
            <a:pPr marL="0" indent="0">
              <a:buNone/>
            </a:pPr>
            <a:r>
              <a:rPr lang="en-CN" dirty="0"/>
              <a:t>In paper, researchers adapt the idea based on diffusion to the flow matching, successfully combined the dsrl with vla mode, pi0. (ref: </a:t>
            </a:r>
            <a:r>
              <a:rPr lang="en-US" dirty="0">
                <a:hlinkClick r:id="rId2"/>
              </a:rPr>
              <a:t>https://github.com/nakamotoo/dsrl_pi0</a:t>
            </a:r>
            <a:r>
              <a:rPr lang="en-US" dirty="0"/>
              <a:t>). I tried to evaluate the model performance.</a:t>
            </a:r>
          </a:p>
          <a:p>
            <a:pPr marL="0" indent="0">
              <a:buNone/>
            </a:pPr>
            <a:r>
              <a:rPr lang="en-US" dirty="0"/>
              <a:t>The pi0 is embedded on libero environment and the model is trained by libero benchmark.</a:t>
            </a:r>
            <a:endParaRPr lang="en-CN" dirty="0"/>
          </a:p>
        </p:txBody>
      </p:sp>
    </p:spTree>
    <p:extLst>
      <p:ext uri="{BB962C8B-B14F-4D97-AF65-F5344CB8AC3E}">
        <p14:creationId xmlns:p14="http://schemas.microsoft.com/office/powerpoint/2010/main" val="1428067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2B05-AC54-15B5-5BF3-8DDC133858E0}"/>
              </a:ext>
            </a:extLst>
          </p:cNvPr>
          <p:cNvSpPr>
            <a:spLocks noGrp="1"/>
          </p:cNvSpPr>
          <p:nvPr>
            <p:ph type="title"/>
          </p:nvPr>
        </p:nvSpPr>
        <p:spPr/>
        <p:txBody>
          <a:bodyPr/>
          <a:lstStyle/>
          <a:p>
            <a:r>
              <a:rPr lang="en-CN" dirty="0"/>
              <a:t>Limitation of Origin Code:</a:t>
            </a:r>
          </a:p>
        </p:txBody>
      </p:sp>
      <p:sp>
        <p:nvSpPr>
          <p:cNvPr id="3" name="Content Placeholder 2">
            <a:extLst>
              <a:ext uri="{FF2B5EF4-FFF2-40B4-BE49-F238E27FC236}">
                <a16:creationId xmlns:a16="http://schemas.microsoft.com/office/drawing/2014/main" id="{6CB535EF-A61A-EFB0-9827-42B42A3C15AF}"/>
              </a:ext>
            </a:extLst>
          </p:cNvPr>
          <p:cNvSpPr>
            <a:spLocks noGrp="1"/>
          </p:cNvSpPr>
          <p:nvPr>
            <p:ph idx="1"/>
          </p:nvPr>
        </p:nvSpPr>
        <p:spPr/>
        <p:txBody>
          <a:bodyPr/>
          <a:lstStyle/>
          <a:p>
            <a:pPr marL="0" indent="0">
              <a:buNone/>
            </a:pPr>
            <a:r>
              <a:rPr lang="en-CN" dirty="0"/>
              <a:t>The default script treated libero_90 as whole block and required manual configuration for individual tasks, making the running task plan complex and cannot differentiate model performance across various complexity (eg. spatial, semantic)</a:t>
            </a:r>
          </a:p>
          <a:p>
            <a:pPr marL="0" indent="0">
              <a:buNone/>
            </a:pPr>
            <a:r>
              <a:rPr lang="en-CN" dirty="0"/>
              <a:t>Solution: Optimize the run.sh script to evaluate suite by suite (spatial, object, goal, long) and aggregate the performance of tasks in same suite into one group shown in wandb, convinient to analyze the model ability with comparing output of different suite.</a:t>
            </a:r>
          </a:p>
          <a:p>
            <a:pPr marL="0" indent="0">
              <a:buNone/>
            </a:pPr>
            <a:endParaRPr lang="en-CN" dirty="0"/>
          </a:p>
        </p:txBody>
      </p:sp>
    </p:spTree>
    <p:extLst>
      <p:ext uri="{BB962C8B-B14F-4D97-AF65-F5344CB8AC3E}">
        <p14:creationId xmlns:p14="http://schemas.microsoft.com/office/powerpoint/2010/main" val="3738498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EBD54-641A-3548-5B79-095FAAB17980}"/>
              </a:ext>
            </a:extLst>
          </p:cNvPr>
          <p:cNvSpPr>
            <a:spLocks noGrp="1"/>
          </p:cNvSpPr>
          <p:nvPr>
            <p:ph type="title"/>
          </p:nvPr>
        </p:nvSpPr>
        <p:spPr/>
        <p:txBody>
          <a:bodyPr/>
          <a:lstStyle/>
          <a:p>
            <a:r>
              <a:rPr lang="en-CN" dirty="0"/>
              <a:t>Training Losses 1</a:t>
            </a:r>
          </a:p>
        </p:txBody>
      </p:sp>
      <p:pic>
        <p:nvPicPr>
          <p:cNvPr id="5" name="Content Placeholder 4" descr="A screenshot of a graph&#10;&#10;AI-generated content may be incorrect.">
            <a:extLst>
              <a:ext uri="{FF2B5EF4-FFF2-40B4-BE49-F238E27FC236}">
                <a16:creationId xmlns:a16="http://schemas.microsoft.com/office/drawing/2014/main" id="{6C42ED2D-2D58-39FE-03A6-D0F2C655BADC}"/>
              </a:ext>
            </a:extLst>
          </p:cNvPr>
          <p:cNvPicPr>
            <a:picLocks noGrp="1" noChangeAspect="1"/>
          </p:cNvPicPr>
          <p:nvPr>
            <p:ph idx="1"/>
          </p:nvPr>
        </p:nvPicPr>
        <p:blipFill>
          <a:blip r:embed="rId2"/>
          <a:stretch>
            <a:fillRect/>
          </a:stretch>
        </p:blipFill>
        <p:spPr>
          <a:xfrm>
            <a:off x="838200" y="2140475"/>
            <a:ext cx="7760147" cy="4352400"/>
          </a:xfrm>
          <a:prstGeom prst="rect">
            <a:avLst/>
          </a:prstGeom>
        </p:spPr>
      </p:pic>
    </p:spTree>
    <p:extLst>
      <p:ext uri="{BB962C8B-B14F-4D97-AF65-F5344CB8AC3E}">
        <p14:creationId xmlns:p14="http://schemas.microsoft.com/office/powerpoint/2010/main" val="398220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5819-47C3-58F3-6D78-C6DF5C8F55B1}"/>
              </a:ext>
            </a:extLst>
          </p:cNvPr>
          <p:cNvSpPr>
            <a:spLocks noGrp="1"/>
          </p:cNvSpPr>
          <p:nvPr>
            <p:ph type="title"/>
          </p:nvPr>
        </p:nvSpPr>
        <p:spPr/>
        <p:txBody>
          <a:bodyPr/>
          <a:lstStyle/>
          <a:p>
            <a:r>
              <a:rPr lang="en-CN" dirty="0"/>
              <a:t>Training Losses 2</a:t>
            </a:r>
          </a:p>
        </p:txBody>
      </p:sp>
      <p:pic>
        <p:nvPicPr>
          <p:cNvPr id="5" name="Content Placeholder 4" descr="A screenshot of a graph&#10;&#10;AI-generated content may be incorrect.">
            <a:extLst>
              <a:ext uri="{FF2B5EF4-FFF2-40B4-BE49-F238E27FC236}">
                <a16:creationId xmlns:a16="http://schemas.microsoft.com/office/drawing/2014/main" id="{5F48EBA6-83FC-9AB4-BCF5-806A2C22D8CF}"/>
              </a:ext>
            </a:extLst>
          </p:cNvPr>
          <p:cNvPicPr>
            <a:picLocks noGrp="1" noChangeAspect="1"/>
          </p:cNvPicPr>
          <p:nvPr>
            <p:ph idx="1"/>
          </p:nvPr>
        </p:nvPicPr>
        <p:blipFill>
          <a:blip r:embed="rId2"/>
          <a:stretch>
            <a:fillRect/>
          </a:stretch>
        </p:blipFill>
        <p:spPr>
          <a:xfrm>
            <a:off x="838200" y="2010908"/>
            <a:ext cx="7765249" cy="4351338"/>
          </a:xfrm>
          <a:prstGeom prst="rect">
            <a:avLst/>
          </a:prstGeom>
        </p:spPr>
      </p:pic>
    </p:spTree>
    <p:extLst>
      <p:ext uri="{BB962C8B-B14F-4D97-AF65-F5344CB8AC3E}">
        <p14:creationId xmlns:p14="http://schemas.microsoft.com/office/powerpoint/2010/main" val="413732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29AFC-16BE-C2BC-3A83-8ADFE9A85229}"/>
              </a:ext>
            </a:extLst>
          </p:cNvPr>
          <p:cNvSpPr>
            <a:spLocks noGrp="1"/>
          </p:cNvSpPr>
          <p:nvPr>
            <p:ph type="title"/>
          </p:nvPr>
        </p:nvSpPr>
        <p:spPr/>
        <p:txBody>
          <a:bodyPr/>
          <a:lstStyle/>
          <a:p>
            <a:r>
              <a:rPr lang="en-CN" dirty="0"/>
              <a:t>Evaluation 1</a:t>
            </a:r>
          </a:p>
        </p:txBody>
      </p:sp>
      <p:pic>
        <p:nvPicPr>
          <p:cNvPr id="5" name="Content Placeholder 4" descr="A screenshot of a graph&#10;&#10;AI-generated content may be incorrect.">
            <a:extLst>
              <a:ext uri="{FF2B5EF4-FFF2-40B4-BE49-F238E27FC236}">
                <a16:creationId xmlns:a16="http://schemas.microsoft.com/office/drawing/2014/main" id="{2F62A1F3-E51E-38EF-18E5-B539895A2117}"/>
              </a:ext>
            </a:extLst>
          </p:cNvPr>
          <p:cNvPicPr>
            <a:picLocks noGrp="1" noChangeAspect="1"/>
          </p:cNvPicPr>
          <p:nvPr>
            <p:ph idx="1"/>
          </p:nvPr>
        </p:nvPicPr>
        <p:blipFill>
          <a:blip r:embed="rId2"/>
          <a:stretch>
            <a:fillRect/>
          </a:stretch>
        </p:blipFill>
        <p:spPr>
          <a:xfrm>
            <a:off x="838200" y="1978251"/>
            <a:ext cx="7791438" cy="4351338"/>
          </a:xfrm>
          <a:prstGeom prst="rect">
            <a:avLst/>
          </a:prstGeom>
        </p:spPr>
      </p:pic>
    </p:spTree>
    <p:extLst>
      <p:ext uri="{BB962C8B-B14F-4D97-AF65-F5344CB8AC3E}">
        <p14:creationId xmlns:p14="http://schemas.microsoft.com/office/powerpoint/2010/main" val="181019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FE8A5-4C14-6D23-3D77-8CAF4F767CAB}"/>
              </a:ext>
            </a:extLst>
          </p:cNvPr>
          <p:cNvSpPr>
            <a:spLocks noGrp="1"/>
          </p:cNvSpPr>
          <p:nvPr>
            <p:ph type="title"/>
          </p:nvPr>
        </p:nvSpPr>
        <p:spPr/>
        <p:txBody>
          <a:bodyPr/>
          <a:lstStyle/>
          <a:p>
            <a:r>
              <a:rPr lang="en-CN" dirty="0"/>
              <a:t>Evaluation 2</a:t>
            </a:r>
          </a:p>
        </p:txBody>
      </p:sp>
      <p:pic>
        <p:nvPicPr>
          <p:cNvPr id="5" name="Content Placeholder 4" descr="A screenshot of a graph&#10;&#10;AI-generated content may be incorrect.">
            <a:extLst>
              <a:ext uri="{FF2B5EF4-FFF2-40B4-BE49-F238E27FC236}">
                <a16:creationId xmlns:a16="http://schemas.microsoft.com/office/drawing/2014/main" id="{68D99080-CE77-B828-C391-6E31CAE6BB81}"/>
              </a:ext>
            </a:extLst>
          </p:cNvPr>
          <p:cNvPicPr>
            <a:picLocks noGrp="1" noChangeAspect="1"/>
          </p:cNvPicPr>
          <p:nvPr>
            <p:ph idx="1"/>
          </p:nvPr>
        </p:nvPicPr>
        <p:blipFill>
          <a:blip r:embed="rId2"/>
          <a:stretch>
            <a:fillRect/>
          </a:stretch>
        </p:blipFill>
        <p:spPr>
          <a:xfrm>
            <a:off x="838200" y="2141537"/>
            <a:ext cx="7755207" cy="4351338"/>
          </a:xfrm>
          <a:prstGeom prst="rect">
            <a:avLst/>
          </a:prstGeom>
        </p:spPr>
      </p:pic>
    </p:spTree>
    <p:extLst>
      <p:ext uri="{BB962C8B-B14F-4D97-AF65-F5344CB8AC3E}">
        <p14:creationId xmlns:p14="http://schemas.microsoft.com/office/powerpoint/2010/main" val="487537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35B9-3208-A3F3-7BF9-F3AC1B809EC8}"/>
              </a:ext>
            </a:extLst>
          </p:cNvPr>
          <p:cNvSpPr>
            <a:spLocks noGrp="1"/>
          </p:cNvSpPr>
          <p:nvPr>
            <p:ph type="title"/>
          </p:nvPr>
        </p:nvSpPr>
        <p:spPr/>
        <p:txBody>
          <a:bodyPr/>
          <a:lstStyle/>
          <a:p>
            <a:r>
              <a:rPr lang="en-CN" dirty="0"/>
              <a:t>Analysis &amp; Process:</a:t>
            </a:r>
          </a:p>
        </p:txBody>
      </p:sp>
      <p:sp>
        <p:nvSpPr>
          <p:cNvPr id="3" name="Content Placeholder 2">
            <a:extLst>
              <a:ext uri="{FF2B5EF4-FFF2-40B4-BE49-F238E27FC236}">
                <a16:creationId xmlns:a16="http://schemas.microsoft.com/office/drawing/2014/main" id="{EAC09818-EA52-C604-EAAC-B42F0958F613}"/>
              </a:ext>
            </a:extLst>
          </p:cNvPr>
          <p:cNvSpPr>
            <a:spLocks noGrp="1"/>
          </p:cNvSpPr>
          <p:nvPr>
            <p:ph idx="1"/>
          </p:nvPr>
        </p:nvSpPr>
        <p:spPr/>
        <p:txBody>
          <a:bodyPr/>
          <a:lstStyle/>
          <a:p>
            <a:pPr marL="0" indent="0">
              <a:buNone/>
            </a:pPr>
            <a:r>
              <a:rPr lang="en-CN" dirty="0"/>
              <a:t>Have finished the training of spatial suite and object suite is in processing.</a:t>
            </a:r>
          </a:p>
          <a:p>
            <a:pPr marL="0" indent="0">
              <a:buNone/>
            </a:pPr>
            <a:r>
              <a:rPr lang="en-CN" dirty="0"/>
              <a:t>The eval_success didn’t converge well, even though the training loss seems converged. This may related to two parameter:</a:t>
            </a:r>
          </a:p>
          <a:p>
            <a:r>
              <a:rPr lang="en-US" dirty="0" err="1"/>
              <a:t>eval_episode</a:t>
            </a:r>
            <a:r>
              <a:rPr lang="en-US" dirty="0"/>
              <a:t>: default 10</a:t>
            </a:r>
          </a:p>
          <a:p>
            <a:r>
              <a:rPr lang="en-US" dirty="0" err="1"/>
              <a:t>multi_grad_step</a:t>
            </a:r>
            <a:r>
              <a:rPr lang="en-US" dirty="0"/>
              <a:t>: default 20</a:t>
            </a:r>
          </a:p>
          <a:p>
            <a:pPr marL="0" indent="0">
              <a:buNone/>
            </a:pPr>
            <a:r>
              <a:rPr lang="en-US" dirty="0"/>
              <a:t>Small episode cannot avoid chance effect.</a:t>
            </a:r>
          </a:p>
          <a:p>
            <a:pPr marL="0" indent="0">
              <a:buNone/>
            </a:pPr>
            <a:r>
              <a:rPr lang="en-US" dirty="0" err="1"/>
              <a:t>Gradstep</a:t>
            </a:r>
            <a:r>
              <a:rPr lang="en-US" dirty="0"/>
              <a:t> may be too big for simple tasks (need to check by </a:t>
            </a:r>
            <a:r>
              <a:rPr lang="en-US"/>
              <a:t>comparing with </a:t>
            </a:r>
            <a:r>
              <a:rPr lang="en-US" dirty="0"/>
              <a:t>goal/</a:t>
            </a:r>
            <a:r>
              <a:rPr lang="en-US"/>
              <a:t>long tasks)</a:t>
            </a:r>
            <a:endParaRPr lang="en-CN" dirty="0"/>
          </a:p>
        </p:txBody>
      </p:sp>
      <p:sp>
        <p:nvSpPr>
          <p:cNvPr id="4" name="TextBox 3">
            <a:extLst>
              <a:ext uri="{FF2B5EF4-FFF2-40B4-BE49-F238E27FC236}">
                <a16:creationId xmlns:a16="http://schemas.microsoft.com/office/drawing/2014/main" id="{34181066-A599-8AC0-5D58-F676B6A2E4D3}"/>
              </a:ext>
            </a:extLst>
          </p:cNvPr>
          <p:cNvSpPr txBox="1"/>
          <p:nvPr/>
        </p:nvSpPr>
        <p:spPr>
          <a:xfrm>
            <a:off x="2906486" y="947057"/>
            <a:ext cx="184731" cy="369332"/>
          </a:xfrm>
          <a:prstGeom prst="rect">
            <a:avLst/>
          </a:prstGeom>
          <a:noFill/>
        </p:spPr>
        <p:txBody>
          <a:bodyPr wrap="none" rtlCol="0">
            <a:spAutoFit/>
          </a:bodyPr>
          <a:lstStyle/>
          <a:p>
            <a:endParaRPr lang="en-CN" dirty="0"/>
          </a:p>
        </p:txBody>
      </p:sp>
    </p:spTree>
    <p:extLst>
      <p:ext uri="{BB962C8B-B14F-4D97-AF65-F5344CB8AC3E}">
        <p14:creationId xmlns:p14="http://schemas.microsoft.com/office/powerpoint/2010/main" val="1264281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TotalTime>
  <Words>467</Words>
  <Application>Microsoft Macintosh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VLA-R3L : achieving performant robotic generalist policy in real world via reflective residual reinforcement learning </vt:lpstr>
      <vt:lpstr>DSRL Reproduce I:</vt:lpstr>
      <vt:lpstr>PowerPoint Presentation</vt:lpstr>
      <vt:lpstr>Cont’d</vt:lpstr>
      <vt:lpstr>PowerPoint Presentation</vt:lpstr>
      <vt:lpstr>DSRL Reproduce II:</vt:lpstr>
      <vt:lpstr>Limitation of Origin Code:</vt:lpstr>
      <vt:lpstr>Training Losses 1</vt:lpstr>
      <vt:lpstr>Training Losses 2</vt:lpstr>
      <vt:lpstr>Evaluation 1</vt:lpstr>
      <vt:lpstr>Evaluation 2</vt:lpstr>
      <vt:lpstr>Analysis &amp;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 ZIMING#</dc:creator>
  <cp:lastModifiedBy>#YAN ZIMING#</cp:lastModifiedBy>
  <cp:revision>3</cp:revision>
  <dcterms:created xsi:type="dcterms:W3CDTF">2026-02-26T08:49:51Z</dcterms:created>
  <dcterms:modified xsi:type="dcterms:W3CDTF">2026-02-26T15:40:21Z</dcterms:modified>
</cp:coreProperties>
</file>